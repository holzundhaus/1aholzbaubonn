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1aholzbaubonn/aufstockung-holzbauweise-tragfaehigkeit-erschliessung-pruefen/" TargetMode="External"/><Relationship Id="rId3" Type="http://schemas.openxmlformats.org/officeDocument/2006/relationships/hyperlink" Target="https://holzundhaus.github.io/1aholzbaubonn/dateien/minimax-999d8cc5116a569cc23545b7/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Aufstockung in Holzbauweise: Tragfähigkeit und Erschließung des Bestands realistisch einschätzen · Erklärende Präsentation</a:t>
            </a:r>
          </a:p>
        </p:txBody>
      </p:sp>
      <p:sp>
        <p:nvSpPr>
          <p:cNvPr id="3" name="Content Placeholder 2"/>
          <p:cNvSpPr>
            <a:spLocks noGrp="1"/>
          </p:cNvSpPr>
          <p:nvPr>
            <p:ph idx="1"/>
          </p:nvPr>
        </p:nvSpPr>
        <p:spPr/>
        <p:txBody>
          <a:bodyPr/>
          <a:lstStyle/>
          <a:p>
            <a:r>
              <a:t>Überblick: Eine Aufstockung kann zusätzlichen Wohnraum schaffen, doch Tragfähigkeit und Erschließung müssen bereits vor der konkreten Planung geklärt werden. Der folgende Leitfaden zeigt, welche Unterlagen sinnvoll sind, was sich am Bestand selbst prüfen lässt und welche Fragen zwingend von Fachleuten beantwortet werden müssen. So wird aus einer ersten Idee eine belastbare Projektvorbereitung – ohne die Grenzen einer Selbsteinschätzung zu überschreiten.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Mit welchen Unterlagen startet die Bestandsaufnahme?</a:t>
            </a:r>
          </a:p>
        </p:txBody>
      </p:sp>
      <p:sp>
        <p:nvSpPr>
          <p:cNvPr id="3" name="Content Placeholder 2"/>
          <p:cNvSpPr>
            <a:spLocks noGrp="1"/>
          </p:cNvSpPr>
          <p:nvPr>
            <p:ph idx="1"/>
          </p:nvPr>
        </p:nvSpPr>
        <p:spPr/>
        <p:txBody>
          <a:bodyPr/>
          <a:lstStyle/>
          <a:p>
            <a:pPr>
              <a:defRPr sz="1800"/>
            </a:pPr>
            <a:r>
              <a:t>Für eine erste Einschätzung sind möglichst genaue Informationen zum vorhandenen Gebäude wichtig. Dazu zählen vorhandene Baupläne mit Grundriss, Schnitten und Ansichten, das Baujahr sowie bekannte Umbauten und Anbauten. Ebenso relevant sind der Aufbau von Decken und Wänden, die verwendeten Materialien und Querschnitte sowie die Konstruktionsart. Unterstützt wird diese Bestandsaufnahme durch Angaben zur früheren und heutigen Nutzung des Dachgeschosses. Fotos von außen, aus dem Dachgeschoss und von der geplanten Anschlussstelle können sichtbare Besonderheiten dokumentieren. Hinzu kommen Grundstücksdaten, der Stand der Erschließung und bereits vo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Mit welchen Unterlagen startet die Bestandsaufnahme?</a:t>
            </a:r>
          </a:p>
        </p:txBody>
      </p:sp>
      <p:sp>
        <p:nvSpPr>
          <p:cNvPr id="3" name="Content Placeholder 2"/>
          <p:cNvSpPr>
            <a:spLocks noGrp="1"/>
          </p:cNvSpPr>
          <p:nvPr>
            <p:ph idx="1"/>
          </p:nvPr>
        </p:nvSpPr>
        <p:spPr/>
        <p:txBody>
          <a:bodyPr/>
          <a:lstStyle/>
          <a:p>
            <a:pPr>
              <a:defRPr sz="1800"/>
            </a:pPr>
            <a:r>
              <a:t>rhandene Planungsstände. Fehlende Unterlagen sollten nicht durch Annahmen ersetzt werden. Stattdessen kann offen benannt werden, welche Punkte noch ungeklärt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lässt sich am Gebäude selbst prüfen?</a:t>
            </a:r>
          </a:p>
        </p:txBody>
      </p:sp>
      <p:sp>
        <p:nvSpPr>
          <p:cNvPr id="3" name="Content Placeholder 2"/>
          <p:cNvSpPr>
            <a:spLocks noGrp="1"/>
          </p:cNvSpPr>
          <p:nvPr>
            <p:ph idx="1"/>
          </p:nvPr>
        </p:nvSpPr>
        <p:spPr/>
        <p:txBody>
          <a:bodyPr/>
          <a:lstStyle/>
          <a:p>
            <a:pPr>
              <a:defRPr sz="1800"/>
            </a:pPr>
            <a:r>
              <a:t>Eine eigene Bestandsaufnahme kann sichtbare Auffälligkeiten erfassen und konkrete Fragen vorbereiten. Im obersten Geschoss lässt sich beispielweise prüfen, ob eine Holzbalkendecke oder eine Massivdecke vorhanden ist und ob erkennbare Durchbiegungen auffallen. Bei Wänden können Material und Konstruktion sowie sichtbare Risse, Feuchtespuren oder Verformungen festgehalten werden. Außerdem sind Zugänglichkeit und Begehbarkeit des Dachgeschosses sowie bereits bekannte Schäden relevant. Diese Beobachtungen ersetzen jedoch keinen statischen Nachweis. Insbesondere die Frage, ob die bestehende Tragstruktur zusätzliche Lasten aufnehmen kann, lässt sich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lässt sich am Gebäude selbst prüfen?</a:t>
            </a:r>
          </a:p>
        </p:txBody>
      </p:sp>
      <p:sp>
        <p:nvSpPr>
          <p:cNvPr id="3" name="Content Placeholder 2"/>
          <p:cNvSpPr>
            <a:spLocks noGrp="1"/>
          </p:cNvSpPr>
          <p:nvPr>
            <p:ph idx="1"/>
          </p:nvPr>
        </p:nvSpPr>
        <p:spPr/>
        <p:txBody>
          <a:bodyPr/>
          <a:lstStyle/>
          <a:p>
            <a:pPr>
              <a:defRPr sz="1800"/>
            </a:pPr>
            <a:r>
              <a:t> durch bloße Inaugenscheinnahme nicht zuverlässig beantworten. Auch die Weiterleitung der Kräfte in den Baugrund, erforderliche Verstärkungen und bauphysikalische Auswirkungen gehören in fachliche Hände. Eine leichte Holzrahmenkonstruktion kann zwar das Eigengewicht reduzieren, beseitigt diese Anforderungen aber nicht.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gehört die Erschließung in dieselbe Vorbereitung?</a:t>
            </a:r>
          </a:p>
        </p:txBody>
      </p:sp>
      <p:sp>
        <p:nvSpPr>
          <p:cNvPr id="3" name="Content Placeholder 2"/>
          <p:cNvSpPr>
            <a:spLocks noGrp="1"/>
          </p:cNvSpPr>
          <p:nvPr>
            <p:ph idx="1"/>
          </p:nvPr>
        </p:nvSpPr>
        <p:spPr/>
        <p:txBody>
          <a:bodyPr/>
          <a:lstStyle/>
          <a:p>
            <a:pPr>
              <a:defRPr sz="1800"/>
            </a:pPr>
            <a:r>
              <a:t>Ein zusätzliches Geschoss verändert nicht nur die Nutzung des Dachgeschosses, sondern die gesamte Erschließung des Hauses. Deshalb sollte bereits vor der Anfrage geklärt werden, ob das vorhandene Treppenhaus verlängert werden kann oder ein neuer Treppenlauf erforderlich ist. Zu prüfen sind außerdem verfügbare Flächen für innenliegende oder außenliegende Treppen, Anschlusshöhen und mögliche Höhenversprünge zu den Bestandsgeschossen. Leitungen, Schächte und Durchdringungen durch das Dach beeinflussen die Planung ebenso. Fluchtwege und brandschutztechnische Anforderungen müssen berücksichtigt werden. Tragfähigkeit und Erschließung sollten deshal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gehört die Erschließung in dieselbe Vorbereitung?</a:t>
            </a:r>
          </a:p>
        </p:txBody>
      </p:sp>
      <p:sp>
        <p:nvSpPr>
          <p:cNvPr id="3" name="Content Placeholder 2"/>
          <p:cNvSpPr>
            <a:spLocks noGrp="1"/>
          </p:cNvSpPr>
          <p:nvPr>
            <p:ph idx="1"/>
          </p:nvPr>
        </p:nvSpPr>
        <p:spPr/>
        <p:txBody>
          <a:bodyPr/>
          <a:lstStyle/>
          <a:p>
            <a:pPr>
              <a:defRPr sz="1800"/>
            </a:pPr>
            <a:r>
              <a:t>b nicht getrennt bewertet werden: Eine rechnerisch mögliche Aufstockung ist noch keine sinnvolle und genehmigungsfähige Lösung.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 endet die Selbsteinschätzung?</a:t>
            </a:r>
          </a:p>
        </p:txBody>
      </p:sp>
      <p:sp>
        <p:nvSpPr>
          <p:cNvPr id="3" name="Content Placeholder 2"/>
          <p:cNvSpPr>
            <a:spLocks noGrp="1"/>
          </p:cNvSpPr>
          <p:nvPr>
            <p:ph idx="1"/>
          </p:nvPr>
        </p:nvSpPr>
        <p:spPr/>
        <p:txBody>
          <a:bodyPr/>
          <a:lstStyle/>
          <a:p>
            <a:pPr>
              <a:defRPr sz="1800"/>
            </a:pPr>
            <a:r>
              <a:t>Die Vorbereitung durch Eigentümerinnen und Eigentümer endet dort, wo statische Nachweise, bauphysikalische Detailplanung und baurechtliche Bewertung beginnen. Zustände dokumentieren, Pläne sammeln und offene Punkte benennen ist sinnvoll. Die endgültige Aussage, ob das Gebäude tragfähig ist, ob die Maßnahme technisch machbar und genehmigungsfähig erscheint und welche Verstärkungen erforderlich wären, muss auf belastbaren Fachkenntnissen beruhen. Wer bereits eine kompakte Checkliste für die eigene Vorbereitung sucht, kann den Beitrag zur Aufstockung einschätzen und passenden Beitrag zur Aufstockung heranziehen. Er ersetzt die Fachplanung nicht,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 endet die Selbsteinschätzung?</a:t>
            </a:r>
          </a:p>
        </p:txBody>
      </p:sp>
      <p:sp>
        <p:nvSpPr>
          <p:cNvPr id="3" name="Content Placeholder 2"/>
          <p:cNvSpPr>
            <a:spLocks noGrp="1"/>
          </p:cNvSpPr>
          <p:nvPr>
            <p:ph idx="1"/>
          </p:nvPr>
        </p:nvSpPr>
        <p:spPr/>
        <p:txBody>
          <a:bodyPr/>
          <a:lstStyle/>
          <a:p>
            <a:pPr>
              <a:defRPr sz="1800"/>
            </a:pPr>
            <a:r>
              <a:t> kann aber helfen, die Anfrage so vorzubereiten, dass zentrale Bestandsangaben und Anschlussfragen nicht unnötig später geklärt werden müssen.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Aufstockung in Holzbauweise: Tragfähigkeit und Erschließung des Bestands realistisch einschätzen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