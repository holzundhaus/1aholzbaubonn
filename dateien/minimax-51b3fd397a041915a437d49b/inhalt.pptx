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bonn/-/blob/574e6bafc2e6561b8c5c445f1e0f33f55aa5dc53/_posts/2026-10-30-terrassenueberdachung-bauphysik-wandanschluss.md" TargetMode="External"/><Relationship Id="rId3" Type="http://schemas.openxmlformats.org/officeDocument/2006/relationships/hyperlink" Target="https://holzundhaus.github.io/1aholzbaubonn/dateien/minimax-51b3fd397a041915a437d49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Terrassenüberdachung: Bauphysik am Wandanschluss richtig planen · Erklärende Präsentation</a:t>
            </a:r>
          </a:p>
        </p:txBody>
      </p:sp>
      <p:sp>
        <p:nvSpPr>
          <p:cNvPr id="3" name="Content Placeholder 2"/>
          <p:cNvSpPr>
            <a:spLocks noGrp="1"/>
          </p:cNvSpPr>
          <p:nvPr>
            <p:ph idx="1"/>
          </p:nvPr>
        </p:nvSpPr>
        <p:spPr/>
        <p:txBody>
          <a:bodyPr/>
          <a:lstStyle/>
          <a:p>
            <a:r>
              <a:t>Überblick: Eine Terrassenüberdachung aus Holz verbindet den Komfort eines geschützten Freiraums mit den offenen bauphysikalischen Bedingungen eines Außenbereichs. Anders als ein Wintergarten ist sie nicht als geschlossener, beheizter Raum konzipiert. Temperaturwechsel, Feuchte, Schlagregen und Luftbewegung wirken daher unmittelbar auf den Wandanschluss und das Tragwerk. Wer die konstruktiven und feuchteschutztechnischen Fragen vor der Planung klärt, kann typische Schwachstellen frühzeitig vermeiden. Der folgende Leitfaden richtet den Blick besonders auf die Übergangszone zwischen Hauswand und Überdachung, ohne die Ausführung pauschal vorzugeb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Wandanschluss bauphysikalisch zählt</a:t>
            </a:r>
          </a:p>
        </p:txBody>
      </p:sp>
      <p:sp>
        <p:nvSpPr>
          <p:cNvPr id="3" name="Content Placeholder 2"/>
          <p:cNvSpPr>
            <a:spLocks noGrp="1"/>
          </p:cNvSpPr>
          <p:nvPr>
            <p:ph idx="1"/>
          </p:nvPr>
        </p:nvSpPr>
        <p:spPr/>
        <p:txBody>
          <a:bodyPr/>
          <a:lstStyle/>
          <a:p>
            <a:pPr>
              <a:defRPr sz="1800"/>
            </a:pPr>
            <a:r>
              <a:t>An der Hausfassade treffen unterschiedliche Bauteile aufeinander: gedämmte Wandflächen, Holzpfetten oder Sparren, Befestigungsmittel und die Anschlussabdeckung. Dieser Übergang kann eine lineare Wärmebrücke bilden. Besonders relevant ist, wo die Tragkonstruktion der Überdachung an eine thermisch gedämmte Außenwand anschließt. Auch metallische Schrauben, Konsolen und Anker können Wärme nach außen ableiten. Die Lage des Anschlusses, der Wandaufbau und die verwendeten Materialien beeinflussen daher gemeinsam, wie stark sich die Wärmebrücke auswirkt. Als Planungsgrundlage kommen wärmedämmte Anschlussprofile, eine ausreichende Hinterlüftung und 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Wandanschluss bauphysikalisch zählt</a:t>
            </a:r>
          </a:p>
        </p:txBody>
      </p:sp>
      <p:sp>
        <p:nvSpPr>
          <p:cNvPr id="3" name="Content Placeholder 2"/>
          <p:cNvSpPr>
            <a:spLocks noGrp="1"/>
          </p:cNvSpPr>
          <p:nvPr>
            <p:ph idx="1"/>
          </p:nvPr>
        </p:nvSpPr>
        <p:spPr/>
        <p:txBody>
          <a:bodyPr/>
          <a:lstStyle/>
          <a:p>
            <a:pPr>
              <a:defRPr sz="1800"/>
            </a:pPr>
            <a:r>
              <a:t>ermisch entkoppelte Befestigungselemente infrage. Welche Lösung im Einzelfall geeignet ist, muss anhand der vorhandenen Konstruktion und der geplanten Ausführung beurteilt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Regen zuverlässig abführen</a:t>
            </a:r>
          </a:p>
        </p:txBody>
      </p:sp>
      <p:sp>
        <p:nvSpPr>
          <p:cNvPr id="3" name="Content Placeholder 2"/>
          <p:cNvSpPr>
            <a:spLocks noGrp="1"/>
          </p:cNvSpPr>
          <p:nvPr>
            <p:ph idx="1"/>
          </p:nvPr>
        </p:nvSpPr>
        <p:spPr/>
        <p:txBody>
          <a:bodyPr/>
          <a:lstStyle/>
          <a:p>
            <a:pPr>
              <a:defRPr sz="1800"/>
            </a:pPr>
            <a:r>
              <a:t>Bei einer offenen Terrassenüberdachung kann sich in ungünstigen Nächten zeitweise Tauwasser im Bereich des Wandanschlusses bilden. Es wird nicht dauerhaft wie in einem geschlossenen Wintergarten eingeschlossen, bleibt aber ein wichtiger Planungspunkt. Feuchtigkeit muss kontrolliert ablaufen oder abgeführt werden, statt in Holzbauteile oder Mauerwerk einzudringen. Dazu gehört eine klare Entwässerung mit Rinnen- und Fallrohrplanung. Das Dachwasser sollte nicht entlang der Wand nach innen laufen. Zwischen Holz und Mauerwerk ist außerdem ein Zwischenraum als Kapillarabbruch sinnvoll. Eine definierte Lüftungsöffnung oder ein Spalt im Anschlussbere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Regen zuverlässig abführen</a:t>
            </a:r>
          </a:p>
        </p:txBody>
      </p:sp>
      <p:sp>
        <p:nvSpPr>
          <p:cNvPr id="3" name="Content Placeholder 2"/>
          <p:cNvSpPr>
            <a:spLocks noGrp="1"/>
          </p:cNvSpPr>
          <p:nvPr>
            <p:ph idx="1"/>
          </p:nvPr>
        </p:nvSpPr>
        <p:spPr/>
        <p:txBody>
          <a:bodyPr/>
          <a:lstStyle/>
          <a:p>
            <a:pPr>
              <a:defRPr sz="1800"/>
            </a:pPr>
            <a:r>
              <a:t>ich unterstützt die Hinterlüftung, durch die Feuchte abgeführt werden kann. Zur Planungsanfrage gehören deshalb Angaben zur geplanten Dachneigung, zum Entwässerungsweg und zu bereits bekannten Feuchteschäden oder Sanierungen an der Anschlussstelle.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Anschlussvarianten typisch unterschieden werden</a:t>
            </a:r>
          </a:p>
        </p:txBody>
      </p:sp>
      <p:sp>
        <p:nvSpPr>
          <p:cNvPr id="3" name="Content Placeholder 2"/>
          <p:cNvSpPr>
            <a:spLocks noGrp="1"/>
          </p:cNvSpPr>
          <p:nvPr>
            <p:ph idx="1"/>
          </p:nvPr>
        </p:nvSpPr>
        <p:spPr/>
        <p:txBody>
          <a:bodyPr/>
          <a:lstStyle/>
          <a:p>
            <a:pPr>
              <a:defRPr sz="1800"/>
            </a:pPr>
            <a:r>
              <a:t>Bei einem Anschlag mit Pfette liegt die Pfette auf der Wand oder in einer Mauernische. Das ist konstruktiv nachvollziehbar, verlangt aber einen abgedichteten Auflagerbereich und eine ausreichende Hinterlüftung. Beim freitragenden Anschluss werden Sparren oder Pfetten mit Konsolen beziehungsweise Ankern direkt an der Wand befestigt. Dadurch wird die Hauswand nicht zusätzlich als Auflager beansprucht; zugleich entstehen dort besonders zu prüfende thermische Schwachstellen. Eine Stülplösung mit Wandanschlussblech oder Tropfkante kann das Wasser gezielt vom Anschluss wegleiten. Sie passt nicht automatisch zu jedem Wandsystem, sondern muss mit dem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Anschlussvarianten typisch unterschieden werden</a:t>
            </a:r>
          </a:p>
        </p:txBody>
      </p:sp>
      <p:sp>
        <p:nvSpPr>
          <p:cNvPr id="3" name="Content Placeholder 2"/>
          <p:cNvSpPr>
            <a:spLocks noGrp="1"/>
          </p:cNvSpPr>
          <p:nvPr>
            <p:ph idx="1"/>
          </p:nvPr>
        </p:nvSpPr>
        <p:spPr/>
        <p:txBody>
          <a:bodyPr/>
          <a:lstStyle/>
          <a:p>
            <a:pPr>
              <a:defRPr sz="1800"/>
            </a:pPr>
            <a:r>
              <a:t> vorhandenen Aufbau, etwa Putz oder einem Wärmedämmverbundsystem, abgestimmt werden. Fotos der Anschlussstelle von innen und außen helfen bei dieser Einschätzung.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Terrassenüberdachung nicht wie Wintergarten planen</a:t>
            </a:r>
          </a:p>
        </p:txBody>
      </p:sp>
      <p:sp>
        <p:nvSpPr>
          <p:cNvPr id="3" name="Content Placeholder 2"/>
          <p:cNvSpPr>
            <a:spLocks noGrp="1"/>
          </p:cNvSpPr>
          <p:nvPr>
            <p:ph idx="1"/>
          </p:nvPr>
        </p:nvSpPr>
        <p:spPr/>
        <p:txBody>
          <a:bodyPr/>
          <a:lstStyle/>
          <a:p>
            <a:pPr>
              <a:defRPr sz="1800"/>
            </a:pPr>
            <a:r>
              <a:t>Die zentrale Unterscheidung liegt in der bauphysikalischen Systematik. Ein Wintergarten wird als beheizbarer, geschlossener Raum mit gedämmten Wandanschlüssen, Dampfsperre und luftdichter Hülle geplant. Eine Terrassenüberdachung bleibt dagegen witterungsoffen und nutzt passiven Feuchteschutz über konstruktiven Wetterschutz und Hinterlüftung. Deshalb sollten die Regeln für eine geschlossene Raumhülle nicht ungeprüft auf eine offene Überdachung übertragen werden. Die in der Quelle genannten Vorgaben der DIN 4108 und des WTA-Merkblatts zur Altbauadaptierung sind je nach Bauvorhaben und beteiligten Fachplanern heranzuziehen. Das kann unterschiedl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Terrassenüberdachung nicht wie Wintergarten planen</a:t>
            </a:r>
          </a:p>
        </p:txBody>
      </p:sp>
      <p:sp>
        <p:nvSpPr>
          <p:cNvPr id="3" name="Content Placeholder 2"/>
          <p:cNvSpPr>
            <a:spLocks noGrp="1"/>
          </p:cNvSpPr>
          <p:nvPr>
            <p:ph idx="1"/>
          </p:nvPr>
        </p:nvSpPr>
        <p:spPr/>
        <p:txBody>
          <a:bodyPr/>
          <a:lstStyle/>
          <a:p>
            <a:pPr>
              <a:defRPr sz="1800"/>
            </a:pPr>
            <a:r>
              <a:t>iche Auswirkungen haben. Ziel ist nicht maximale Undichtigkeit, sondern ein dauerhaft funktionierender Anschluss, der Wärme- und Feuchteverlauf sowie die Entwässerung nachvollziehbar berücksichtigt.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Angaben für eine belastbare Planungsanfrage</a:t>
            </a:r>
          </a:p>
        </p:txBody>
      </p:sp>
      <p:sp>
        <p:nvSpPr>
          <p:cNvPr id="3" name="Content Placeholder 2"/>
          <p:cNvSpPr>
            <a:spLocks noGrp="1"/>
          </p:cNvSpPr>
          <p:nvPr>
            <p:ph idx="1"/>
          </p:nvPr>
        </p:nvSpPr>
        <p:spPr/>
        <p:txBody>
          <a:bodyPr/>
          <a:lstStyle/>
          <a:p>
            <a:pPr>
              <a:defRPr sz="1800"/>
            </a:pPr>
            <a:r>
              <a:t>Für die weitere Bearbeitung sollten Bauherren in Bonn möglichst viele Angaben zum Bestand und zur gewünschten Überdachung zusammenstellen. Dazu gehören Material und Aufbau der Außenwand, etwa Massivbau, zweischaliges Mauerwerk oder ein Wärmedämmverbundsystem, die geplante Anschlusshöhe, die gewünschte Dachneigung und der vorgesehene Entwässerungsweg. Hilfreich sind außerdem Angaben zu bestehenden Feuchteschäden sowie Fotos der vorgesehenen Anschlussstelle von innen und außen. Mit diesen Informationen lässt sich der Wandanschluss genauer einordnen und zwischen passenden Anschlussvarianten entscheiden. Ergänzende Informationen zu Überdachungen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Angaben für eine belastbare Planungsanfrage</a:t>
            </a:r>
          </a:p>
        </p:txBody>
      </p:sp>
      <p:sp>
        <p:nvSpPr>
          <p:cNvPr id="3" name="Content Placeholder 2"/>
          <p:cNvSpPr>
            <a:spLocks noGrp="1"/>
          </p:cNvSpPr>
          <p:nvPr>
            <p:ph idx="1"/>
          </p:nvPr>
        </p:nvSpPr>
        <p:spPr/>
        <p:txBody>
          <a:bodyPr/>
          <a:lstStyle/>
          <a:p>
            <a:pPr>
              <a:defRPr sz="1800"/>
            </a:pPr>
            <a:r>
              <a:t>und Carports bietet die Leistungsseite von 1A Holzbau Bonn.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Terrassenüberdachung: Bauphysik am Wandanschluss richtig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